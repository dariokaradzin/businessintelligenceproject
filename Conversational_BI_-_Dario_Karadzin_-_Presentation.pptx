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Conversational Business Intelligence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Natural-Language SQL Agent over a Superstore Data Warehouse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Dario Karadzin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501 Business Intelligence  ·  Student ID 22003553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2026-09-06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Agenda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 &amp; our objective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007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 &amp; data flow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data warehouse (star schema)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907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ETL pipeline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112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 agent &amp; MCP integration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097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Superset dashboards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007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Golden-query validation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3042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Hidden business insights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07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Efficiency gains &amp; trade-offs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5112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challenges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 </a:t>
            </a:r>
            <a:pPr indent="0" marL="0">
              <a:buNone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 &amp; future work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The Problem &amp; Our Objective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Retail data lives in thousands of rows business users can't easily explore.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Getting answers means writing SQL — a skill most managers lack.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question ends up waiting on a data analyst.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154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objective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2044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Let anyone ask questions in plain English.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AI agent writes and runs the SQL on a clean warehouse.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Insights surface instantly through live dashboards.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0" y="960120"/>
            <a:ext cx="3291840" cy="3840480"/>
          </a:xfrm>
          <a:prstGeom prst="roundRect">
            <a:avLst>
              <a:gd name="adj" fmla="val 166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0" y="11430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Superstore dataset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9,994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09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order-line records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414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2014–2017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843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span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319125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5,009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593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distinct orders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941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$2.30M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total sales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System Architecture &amp; Data Flow</a:t>
            </a:r>
            <a:endParaRPr lang="en-US" sz="2500" dirty="0"/>
          </a:p>
        </p:txBody>
      </p:sp>
      <p:pic>
        <p:nvPicPr>
          <p:cNvPr id="3" name="Image 0" descr="/Users/dario.karadzin/BI_Project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4000" y="914400"/>
            <a:ext cx="6575999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 asks in plain English → agy generates SQL → the supabase MCP runs it on the warehouse → Superset visualizes the same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The Data Warehouse — Star Schema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fact_sales — one row per order line (the fact).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Five dimensions: customer, product, geography, ship mode, date.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Descriptive fields normalized out of the CSV into dimensions.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dim_date is role-playing (order date + ship date).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Surrogate keys; each dim joins 1:1 (grain stays 9,994).</a:t>
            </a:r>
            <a:endParaRPr lang="en-US" sz="1600" dirty="0"/>
          </a:p>
        </p:txBody>
      </p:sp>
      <p:pic>
        <p:nvPicPr>
          <p:cNvPr id="4" name="Image 0" descr="/Users/dario.karadzin/BI_Project/Supabase/Sch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275477"/>
            <a:ext cx="4023360" cy="30268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754880" y="4709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 schema in Supabase (PostgreSQL)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ETL Pipeline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 Superstore CSV (latin-1, 9,994 rows) with Python.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90672" y="1600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33756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Transform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 into fact + dimensions, parse dates, de-duplicate keys.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16002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606040" cy="1783080"/>
          </a:xfrm>
          <a:prstGeom prst="roundRect">
            <a:avLst>
              <a:gd name="adj" fmla="val 307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234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280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828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Batch-insert into Supabase; map natural keys → surrogate keys.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01752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Implemented as an idempotent Python script (build_star_schema.py) using psycopg2 — re-runnable, and it validates that the final fact row count equals 9,994.</a:t>
            </a:r>
            <a:endParaRPr lang="en-US" sz="1400" dirty="0"/>
          </a:p>
        </p:txBody>
      </p:sp>
      <p:pic>
        <p:nvPicPr>
          <p:cNvPr id="21" name="Image 0" descr="/Users/dario.karadzin/BI_Project/agy_screenshots/Star schema cre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1755" y="3703320"/>
            <a:ext cx="401193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The AI Agent &amp; MCP Integration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Agent: Antigravity CLI (agy), a Gemini-powered agent.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Governed by AGENTS.md — auto-loaded system instructions.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MCP servers expose the system: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MCP — introspects the live schema and runs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superset-mcp — builds datasets, charts and dashboards.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reads the real schema at runtime — no hard-coded tables.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03520" y="960120"/>
            <a:ext cx="3474720" cy="3794760"/>
          </a:xfrm>
          <a:prstGeom prst="roundRect">
            <a:avLst>
              <a:gd name="adj" fmla="val 1579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AGENTS.md — core SQL rules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60020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Read-only SELECT statements only.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from fact_sales; join dims for attributes.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COUNT(DISTINCT order_id) for orders.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Margin = SUM(profit) / NULLIF(SUM(sales),0).</a:t>
            </a:r>
            <a:endParaRPr lang="en-US" sz="14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Always LIMIT top-N; state assumptions.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Error Handling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recovers from its own mistakes using the live schema.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69080" cy="2788920"/>
          </a:xfrm>
          <a:prstGeom prst="roundRect">
            <a:avLst>
              <a:gd name="adj" fmla="val 1967"/>
            </a:avLst>
          </a:prstGeom>
          <a:solidFill>
            <a:srgbClr val="FBEDEC"/>
          </a:solidFill>
          <a:ln w="12700">
            <a:solidFill>
              <a:srgbClr val="E7C3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72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attempt — failed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category, SUM(sales)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public.fact_sales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BY category;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ERROR: column "category" does not exist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069080" cy="2788920"/>
          </a:xfrm>
          <a:prstGeom prst="roundRect">
            <a:avLst>
              <a:gd name="adj" fmla="val 1967"/>
            </a:avLst>
          </a:prstGeom>
          <a:solidFill>
            <a:srgbClr val="E9F5EE"/>
          </a:solidFill>
          <a:ln w="12700">
            <a:solidFill>
              <a:srgbClr val="BEDD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727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Corrected — succeeded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6596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 p.category, SUM(f.sales)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public.fact_sales 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JOIN public.dim_product 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ON f.product_key = p.product_key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BY p.category;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389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category lives on dim_product → the agent added the join and re-ran successfully.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Superset Dashboards — Executive Overview</a:t>
            </a:r>
            <a:endParaRPr lang="en-US" sz="2500" dirty="0"/>
          </a:p>
        </p:txBody>
      </p:sp>
      <p:pic>
        <p:nvPicPr>
          <p:cNvPr id="3" name="Image 0" descr="/Users/dario.karadzin/BI_Project/Superset_Screenshots/Executive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437" y="960120"/>
            <a:ext cx="7363125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KPIs, monthly sales/profit trend, and breakdowns by category, region and segment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Superset Dashboards — Product &amp; Geography</a:t>
            </a:r>
            <a:endParaRPr lang="en-US" sz="2500" dirty="0"/>
          </a:p>
        </p:txBody>
      </p:sp>
      <p:pic>
        <p:nvPicPr>
          <p:cNvPr id="3" name="Image 0" descr="/Users/dario.karadzin/BI_Project/Superset_Screenshots/Product_Perform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51008"/>
            <a:ext cx="4114800" cy="19271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 Performance</a:t>
            </a:r>
            <a:endParaRPr lang="en-US" sz="1100" dirty="0"/>
          </a:p>
        </p:txBody>
      </p:sp>
      <p:pic>
        <p:nvPicPr>
          <p:cNvPr id="5" name="Image 1" descr="/Users/dario.karadzin/BI_Project/Superset_Screenshots/Geography_and_Custom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20027"/>
            <a:ext cx="4114800" cy="1989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66344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 &amp; Customers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themed dashboards, each with a time-range and category filter.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Golden-Query Validation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206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benchmark of 8 questions, each with its expected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agent reads the question, writes its own SQL, and runs it.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result is compared against the expected answer.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880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06040" y="2880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0358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8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queries passed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303580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730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</a:t>
            </a:r>
            <a:endParaRPr lang="en-US" sz="1200" dirty="0"/>
          </a:p>
        </p:txBody>
      </p:sp>
      <p:pic>
        <p:nvPicPr>
          <p:cNvPr id="10" name="Image 0" descr="/Users/dario.karadzin/BI_Project/agy_screenshots/GoldenQueries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834295"/>
            <a:ext cx="3931920" cy="190925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46320" y="4617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Antigravity CLI running the golden-query evaluation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Hidden Insights — Business Value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1673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15214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Discounting drives losses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36192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Loss-making order lines average a 48% discount vs. just 8% on profitable ones — depth of discount, not product mix.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15184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5059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hidden loss leader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834640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Furniture looks healthy overall, but the Tables sub-category alone loses ~$17,725 — more than Bookcases and Supplies combined.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602736"/>
            <a:ext cx="8321040" cy="1170432"/>
          </a:xfrm>
          <a:prstGeom prst="roundRect">
            <a:avLst>
              <a:gd name="adj" fmla="val 4688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913632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74904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Thin, concentrated margins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133088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Furniture runs a ~2.5% margin while Technology and Office Supplies each run ~17% of sales.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Efficiency Gains &amp; Trade-offs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Efficiency gains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114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Answers in seconds, no analyst in the loop.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 scaffolds the warehouse, ETL and dashboards.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schema introspection removes manual rewriting.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Self-service exploration for non-technical users.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Trade-offs — agent vs. manual SQL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4023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Agent: fast &amp; accessible, but must be governed and verified.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SQL: precise &amp; auditable, but slow and expert-only.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Non-deterministic output needs validation, not blind trust.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fit: agent to explore, curated SQL for reports of record.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77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Takeaway: the agent lowers the barrier to data; governance + a golden-query suite keep it trustworthy.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Technical Challenges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3385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connectivity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direct db.* host is IPv6-only and would not resolve on the network — connections failed at DNS. Fixed by switching to the IPv4 session pooler (eu-central-1).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140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Password URI encoding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DB password contained reserved characters (! @ #) that broke the SQLAlchemy connection string until they were percent-encoded.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8321040" cy="1143000"/>
          </a:xfrm>
          <a:prstGeom prst="roundRect">
            <a:avLst>
              <a:gd name="adj" fmla="val 48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6941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Tooling migration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Google's Gemini CLI was superseded by the Antigravity CLI (agy) mid-project; the MCP configuration format carried over, keeping the project on track.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3774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Conclusion &amp; Future Work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a Superstore star-schema warehouse in Supabase.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Integrated a Gemini agent via MCP for natural-language SQL.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Delivered three dashboards and an 8/8 golden-query suite.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Surfaced three non-obvious business insights.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9601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32588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 the golden-query suite; automate regression runs.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row-level security for multi-user access.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Cache frequent questions; add anomaly-alerting views.</a:t>
            </a:r>
            <a:endParaRPr lang="en-US" sz="16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Enrich with external data (returns, marketing spend).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Dario Karadzin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501 Business Intelligence  ·  Student ID 22003553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A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2026-09-06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2026-09-06T19:34:44Z</dcterms:created>
  <dcterms:modified xsi:type="dcterms:W3CDTF">2026-09-06T19:34:44Z</dcterms:modified>
</cp:coreProperties>
</file>