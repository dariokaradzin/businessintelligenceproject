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00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Conversational Business Intelligence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606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Natural-Language SQL Agent over a Superstore Data Warehouse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118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Dario Karadzin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501 Business Intelligence  ·  Student ID 22003553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2026-09-06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3774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Agenda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972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 </a:t>
            </a:r>
            <a:pPr indent="0" marL="0">
              <a:buNone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problem &amp; our objective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70078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 </a:t>
            </a:r>
            <a:pPr indent="0" marL="0">
              <a:buNone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System architecture &amp; data flow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30428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 </a:t>
            </a:r>
            <a:pPr indent="0" marL="0">
              <a:buNone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data warehouse (star schema)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9077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 </a:t>
            </a:r>
            <a:pPr indent="0" marL="0">
              <a:buNone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ETL pipeline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51129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 </a:t>
            </a:r>
            <a:pPr indent="0" marL="0">
              <a:buNone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AI agent &amp; MCP integration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41148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 </a:t>
            </a:r>
            <a:pPr indent="0" marL="0">
              <a:buNone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Error handling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0972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 </a:t>
            </a:r>
            <a:pPr indent="0" marL="0">
              <a:buNone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Superset dashboards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00600" y="170078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 </a:t>
            </a:r>
            <a:pPr indent="0" marL="0">
              <a:buNone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Golden-query validation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30428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 </a:t>
            </a:r>
            <a:pPr indent="0" marL="0">
              <a:buNone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Hidden business insights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29077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10.  </a:t>
            </a:r>
            <a:pPr indent="0" marL="0">
              <a:buNone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Efficiency gains &amp; trade-offs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351129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11.  </a:t>
            </a:r>
            <a:pPr indent="0" marL="0">
              <a:buNone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Technical challenges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41148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12.  </a:t>
            </a:r>
            <a:pPr indent="0" marL="0">
              <a:buNone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Conclusion &amp; future work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3774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The Problem &amp; Our Objective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47548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2000"/>
              </a:lnSpc>
              <a:spcAft>
                <a:spcPts val="400"/>
              </a:spcAft>
              <a:buSzPct val="150000"/>
              <a:buFont typeface="Arial" pitchFamily="34" charset="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Retail data lives in thousands of rows business users can't easily explore.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400"/>
              </a:spcAft>
              <a:buSzPct val="150000"/>
              <a:buFont typeface="Arial" pitchFamily="34" charset="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Getting answers means writing SQL — a skill most managers lack.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400"/>
              </a:spcAft>
              <a:buSzPct val="150000"/>
              <a:buFont typeface="Arial" pitchFamily="34" charset="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Every question ends up waiting on a data analyst.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15468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Our objective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520440"/>
            <a:ext cx="4754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2000"/>
              </a:lnSpc>
              <a:spcAft>
                <a:spcPts val="400"/>
              </a:spcAft>
              <a:buSzPct val="150000"/>
              <a:buFont typeface="Arial" pitchFamily="34" charset="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Let anyone ask questions in plain English.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400"/>
              </a:spcAft>
              <a:buSzPct val="150000"/>
              <a:buFont typeface="Arial" pitchFamily="34" charset="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AI agent writes and runs the SQL on a clean warehouse.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400"/>
              </a:spcAft>
              <a:buSzPct val="150000"/>
              <a:buFont typeface="Arial" pitchFamily="34" charset="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Insights surface instantly through live dashboards.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0" y="960120"/>
            <a:ext cx="3291840" cy="3840480"/>
          </a:xfrm>
          <a:prstGeom prst="roundRect">
            <a:avLst>
              <a:gd name="adj" fmla="val 1667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0" y="114300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Superstore dataset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669280" y="1691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9,994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669280" y="20939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order-line records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244144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2014–2017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0" y="284378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time span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0" y="3191256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5,009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35935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distinct orders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0" y="394106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$2.30M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0" y="43434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total sales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3774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System Architecture &amp; Data Flow</a:t>
            </a:r>
            <a:endParaRPr lang="en-US" sz="2500" dirty="0"/>
          </a:p>
        </p:txBody>
      </p:sp>
      <p:pic>
        <p:nvPicPr>
          <p:cNvPr id="3" name="Image 0" descr="/Users/dario.karadzin/BI_Project/architecture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4000" y="914400"/>
            <a:ext cx="6575999" cy="3566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5760" y="46177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User asks in plain English → agy generates SQL → the supabase MCP runs it on the warehouse → Superset visualizes the same data.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3774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The Data Warehouse — Star Schema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2000"/>
              </a:lnSpc>
              <a:spcAft>
                <a:spcPts val="800"/>
              </a:spcAft>
              <a:buSzPct val="150000"/>
              <a:buFont typeface="Arial" pitchFamily="34" charset="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fact_sales — one row per order line (the fact).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800"/>
              </a:spcAft>
              <a:buSzPct val="150000"/>
              <a:buFont typeface="Arial" pitchFamily="34" charset="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Five dimensions: customer, product, geography, ship mode, date.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800"/>
              </a:spcAft>
              <a:buSzPct val="150000"/>
              <a:buFont typeface="Arial" pitchFamily="34" charset="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Descriptive fields normalized out of the CSV into dimensions.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800"/>
              </a:spcAft>
              <a:buSzPct val="150000"/>
              <a:buFont typeface="Arial" pitchFamily="34" charset="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dim_date is role-playing (order date + ship date).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800"/>
              </a:spcAft>
              <a:buSzPct val="150000"/>
              <a:buFont typeface="Arial" pitchFamily="34" charset="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Surrogate keys; each dim joins 1:1 (grain stays 9,994).</a:t>
            </a:r>
            <a:endParaRPr lang="en-US" sz="1600" dirty="0"/>
          </a:p>
        </p:txBody>
      </p:sp>
      <p:pic>
        <p:nvPicPr>
          <p:cNvPr id="4" name="Image 0" descr="/Users/dario.karadzin/BI_Project/Supabase/Sche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275477"/>
            <a:ext cx="4023360" cy="302688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754880" y="47091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Star schema in Supabase (PostgreSQL)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3774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ETL Pipeline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606040" cy="1783080"/>
          </a:xfrm>
          <a:prstGeom prst="roundRect">
            <a:avLst>
              <a:gd name="adj" fmla="val 3077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3444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Extract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 the Superstore CSV (latin-1, 9,994 rows) with Python.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090672" y="16002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337560" y="1051560"/>
            <a:ext cx="2606040" cy="1783080"/>
          </a:xfrm>
          <a:prstGeom prst="roundRect">
            <a:avLst>
              <a:gd name="adj" fmla="val 3077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20440" y="123444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2044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1280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Transform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18288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Split into fact + dimensions, parse dates, de-duplicate keys.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971032" y="16002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→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6217920" y="1051560"/>
            <a:ext cx="2606040" cy="1783080"/>
          </a:xfrm>
          <a:prstGeom prst="roundRect">
            <a:avLst>
              <a:gd name="adj" fmla="val 3077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123444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995160" y="1280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Load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18288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Batch-insert into Supabase; map natural keys → surrogate keys.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017520"/>
            <a:ext cx="8321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Implemented as an idempotent Python script (build_star_schema.py) using psycopg2 — re-runnable, and it validates that the final fact row count equals 9,994.</a:t>
            </a:r>
            <a:endParaRPr lang="en-US" sz="1400" dirty="0"/>
          </a:p>
        </p:txBody>
      </p:sp>
      <p:pic>
        <p:nvPicPr>
          <p:cNvPr id="21" name="Image 0" descr="/Users/dario.karadzin/BI_Project/agy_screenshots/Star schema cre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11755" y="3703320"/>
            <a:ext cx="4011930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3774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The AI Agent &amp; MCP Integration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6634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2000"/>
              </a:lnSpc>
              <a:spcAft>
                <a:spcPts val="700"/>
              </a:spcAft>
              <a:buSzPct val="150000"/>
              <a:buFont typeface="Arial" pitchFamily="34" charset="0"/>
              <a:buChar char="•"/>
            </a:pPr>
            <a:r>
              <a:rPr lang="en-US" sz="16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Agent: Antigravity CLI (agy), a Gemini-powered agent.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50000"/>
              <a:buFont typeface="Arial" pitchFamily="34" charset="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Governed by AGENTS.md — auto-loaded system instructions.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50000"/>
              <a:buFont typeface="Arial" pitchFamily="34" charset="0"/>
              <a:buChar char="•"/>
            </a:pPr>
            <a:r>
              <a:rPr lang="en-US" sz="16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Two MCP servers expose the system: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50000"/>
              <a:buFont typeface="Arial" pitchFamily="34" charset="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supabase MCP — introspects the live schema and runs SQL.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50000"/>
              <a:buFont typeface="Arial" pitchFamily="34" charset="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superset-mcp — builds datasets, charts and dashboards.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50000"/>
              <a:buFont typeface="Arial" pitchFamily="34" charset="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agent reads the real schema at runtime — no hard-coded tables.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03520" y="960120"/>
            <a:ext cx="3474720" cy="3794760"/>
          </a:xfrm>
          <a:prstGeom prst="roundRect">
            <a:avLst>
              <a:gd name="adj" fmla="val 1579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0" y="114300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AGENTS.md — core SQL rules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1600200"/>
            <a:ext cx="31089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2000"/>
              </a:lnSpc>
              <a:spcAft>
                <a:spcPts val="600"/>
              </a:spcAft>
              <a:buSzPct val="150000"/>
              <a:buFont typeface="Arial" pitchFamily="34" charset="0"/>
              <a:buChar char="•"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Read-only SELECT statements only.</a:t>
            </a:r>
            <a:endParaRPr lang="en-US" sz="1400" dirty="0"/>
          </a:p>
          <a:p>
            <a:pPr marL="342900" indent="-342900">
              <a:lnSpc>
                <a:spcPct val="102000"/>
              </a:lnSpc>
              <a:spcAft>
                <a:spcPts val="600"/>
              </a:spcAft>
              <a:buSzPct val="150000"/>
              <a:buFont typeface="Arial" pitchFamily="34" charset="0"/>
              <a:buChar char="•"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Measure from fact_sales; join dims for attributes.</a:t>
            </a:r>
            <a:endParaRPr lang="en-US" sz="1400" dirty="0"/>
          </a:p>
          <a:p>
            <a:pPr marL="342900" indent="-342900">
              <a:lnSpc>
                <a:spcPct val="102000"/>
              </a:lnSpc>
              <a:spcAft>
                <a:spcPts val="600"/>
              </a:spcAft>
              <a:buSzPct val="150000"/>
              <a:buFont typeface="Arial" pitchFamily="34" charset="0"/>
              <a:buChar char="•"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COUNT(DISTINCT order_id) for orders.</a:t>
            </a:r>
            <a:endParaRPr lang="en-US" sz="1400" dirty="0"/>
          </a:p>
          <a:p>
            <a:pPr marL="342900" indent="-342900">
              <a:lnSpc>
                <a:spcPct val="102000"/>
              </a:lnSpc>
              <a:spcAft>
                <a:spcPts val="600"/>
              </a:spcAft>
              <a:buSzPct val="150000"/>
              <a:buFont typeface="Arial" pitchFamily="34" charset="0"/>
              <a:buChar char="•"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Margin = SUM(profit) / NULLIF(SUM(sales),0).</a:t>
            </a:r>
            <a:endParaRPr lang="en-US" sz="1400" dirty="0"/>
          </a:p>
          <a:p>
            <a:pPr marL="342900" indent="-342900">
              <a:lnSpc>
                <a:spcPct val="102000"/>
              </a:lnSpc>
              <a:spcAft>
                <a:spcPts val="600"/>
              </a:spcAft>
              <a:buSzPct val="150000"/>
              <a:buFont typeface="Arial" pitchFamily="34" charset="0"/>
              <a:buChar char="•"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Always LIMIT top-N; state assumptions.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3774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Error Handling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agent recovers from its own mistakes using the live schema.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69080" cy="2788920"/>
          </a:xfrm>
          <a:prstGeom prst="roundRect">
            <a:avLst>
              <a:gd name="adj" fmla="val 1967"/>
            </a:avLst>
          </a:prstGeom>
          <a:solidFill>
            <a:srgbClr val="FBEDEC"/>
          </a:solidFill>
          <a:ln w="12700">
            <a:solidFill>
              <a:srgbClr val="E7C3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57276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First attempt — failed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6596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SELECT category, SUM(sales)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FROM public.fact_sales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GROUP BY category;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4612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ERROR: column "category" does not exist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09160" y="1417320"/>
            <a:ext cx="4069080" cy="2788920"/>
          </a:xfrm>
          <a:prstGeom prst="roundRect">
            <a:avLst>
              <a:gd name="adj" fmla="val 1967"/>
            </a:avLst>
          </a:prstGeom>
          <a:solidFill>
            <a:srgbClr val="E9F5EE"/>
          </a:solidFill>
          <a:ln w="12700">
            <a:solidFill>
              <a:srgbClr val="BEDDC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92040" y="157276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Corrected — succeeded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65960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SELECT p.category, SUM(f.sales)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FROM public.fact_sales 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JOIN public.dim_product 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ON f.product_key = p.product_key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GROUP BY p.category;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3891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category lives on dim_product → the agent added the join and re-ran successfully.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3774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Superset Dashboards — Executive Overview</a:t>
            </a:r>
            <a:endParaRPr lang="en-US" sz="2500" dirty="0"/>
          </a:p>
        </p:txBody>
      </p:sp>
      <p:pic>
        <p:nvPicPr>
          <p:cNvPr id="3" name="Image 0" descr="/Users/dario.karadzin/BI_Project/Superset_Screenshots/Executive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0437" y="960120"/>
            <a:ext cx="7363125" cy="36118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5760" y="46634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KPIs, monthly sales/profit trend, and breakdowns by category, region and segment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3774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Superset Dashboards — Product &amp; Geography</a:t>
            </a:r>
            <a:endParaRPr lang="en-US" sz="2500" dirty="0"/>
          </a:p>
        </p:txBody>
      </p:sp>
      <p:pic>
        <p:nvPicPr>
          <p:cNvPr id="3" name="Image 0" descr="/Users/dario.karadzin/BI_Project/Superset_Screenshots/Product_Perform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551008"/>
            <a:ext cx="4114800" cy="192718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5760" y="4114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Product Performance</a:t>
            </a:r>
            <a:endParaRPr lang="en-US" sz="1100" dirty="0"/>
          </a:p>
        </p:txBody>
      </p:sp>
      <p:pic>
        <p:nvPicPr>
          <p:cNvPr id="5" name="Image 1" descr="/Users/dario.karadzin/BI_Project/Superset_Screenshots/Geography_and_Custom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20027"/>
            <a:ext cx="4114800" cy="198914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663440" y="4114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Geography &amp; Customers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Three themed dashboards, each with a time-range and category filter.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3774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Golden-Query Validation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42062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2000"/>
              </a:lnSpc>
              <a:spcAft>
                <a:spcPts val="600"/>
              </a:spcAft>
              <a:buSzPct val="150000"/>
              <a:buFont typeface="Arial" pitchFamily="34" charset="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benchmark of 8 questions, each with its expected SQL.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600"/>
              </a:spcAft>
              <a:buSzPct val="150000"/>
              <a:buFont typeface="Arial" pitchFamily="34" charset="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agent reads the question, writes its own SQL, and runs it.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600"/>
              </a:spcAft>
              <a:buSzPct val="150000"/>
              <a:buFont typeface="Arial" pitchFamily="34" charset="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Its result is compared against the expected answer.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2880360"/>
            <a:ext cx="1965960" cy="1371600"/>
          </a:xfrm>
          <a:prstGeom prst="roundRect">
            <a:avLst>
              <a:gd name="adj" fmla="val 4000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606040" y="2880360"/>
            <a:ext cx="1965960" cy="1371600"/>
          </a:xfrm>
          <a:prstGeom prst="roundRect">
            <a:avLst>
              <a:gd name="adj" fmla="val 4000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035808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 / 8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730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queries passed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606040" y="3035808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100%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2606040" y="3730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accuracy</a:t>
            </a:r>
            <a:endParaRPr lang="en-US" sz="1200" dirty="0"/>
          </a:p>
        </p:txBody>
      </p:sp>
      <p:pic>
        <p:nvPicPr>
          <p:cNvPr id="10" name="Image 0" descr="/Users/dario.karadzin/BI_Project/agy_screenshots/GoldenQueries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1834295"/>
            <a:ext cx="3931920" cy="190925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4846320" y="4617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Antigravity CLI running the golden-query evaluation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3774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Hidden Insights — Business Value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321040" cy="1170432"/>
          </a:xfrm>
          <a:prstGeom prst="roundRect">
            <a:avLst>
              <a:gd name="adj" fmla="val 4688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16736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167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152144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Discounting drives losses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536192"/>
            <a:ext cx="7223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Loss-making order lines average a 48% discount vs. just 8% on profitable ones — depth of discount, not product mix.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304288"/>
            <a:ext cx="8321040" cy="1170432"/>
          </a:xfrm>
          <a:prstGeom prst="roundRect">
            <a:avLst>
              <a:gd name="adj" fmla="val 4688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615184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615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45059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hidden loss leader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834640"/>
            <a:ext cx="7223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Furniture looks healthy overall, but the Tables sub-category alone loses ~$17,725 — more than Bookcases and Supplies combined.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602736"/>
            <a:ext cx="8321040" cy="1170432"/>
          </a:xfrm>
          <a:prstGeom prst="roundRect">
            <a:avLst>
              <a:gd name="adj" fmla="val 4688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3913632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3913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374904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Thin, concentrated margins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4133088"/>
            <a:ext cx="7223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Furniture runs a ~2.5% margin while Technology and Office Supplies each run ~17% of sales.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3774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10. Efficiency Gains &amp; Trade-offs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Efficiency gains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41148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2000"/>
              </a:lnSpc>
              <a:spcAft>
                <a:spcPts val="500"/>
              </a:spcAft>
              <a:buSzPct val="150000"/>
              <a:buFont typeface="Arial" pitchFamily="34" charset="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Answers in seconds, no analyst in the loop.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500"/>
              </a:spcAft>
              <a:buSzPct val="150000"/>
              <a:buFont typeface="Arial" pitchFamily="34" charset="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Agent scaffolds the warehouse, ETL and dashboards.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500"/>
              </a:spcAft>
              <a:buSzPct val="150000"/>
              <a:buFont typeface="Arial" pitchFamily="34" charset="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Live schema introspection removes manual rewriting.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500"/>
              </a:spcAft>
              <a:buSzPct val="150000"/>
              <a:buFont typeface="Arial" pitchFamily="34" charset="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Self-service exploration for non-technical users.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709160" y="9601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Trade-offs — agent vs. manual SQL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709160" y="1325880"/>
            <a:ext cx="40233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2000"/>
              </a:lnSpc>
              <a:spcAft>
                <a:spcPts val="500"/>
              </a:spcAft>
              <a:buSzPct val="150000"/>
              <a:buFont typeface="Arial" pitchFamily="34" charset="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Agent: fast &amp; accessible, but must be governed and verified.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500"/>
              </a:spcAft>
              <a:buSzPct val="150000"/>
              <a:buFont typeface="Arial" pitchFamily="34" charset="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Manual SQL: precise &amp; auditable, but slow and expert-only.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500"/>
              </a:spcAft>
              <a:buSzPct val="150000"/>
              <a:buFont typeface="Arial" pitchFamily="34" charset="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Non-deterministic output needs validation, not blind trust.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500"/>
              </a:spcAft>
              <a:buSzPct val="150000"/>
              <a:buFont typeface="Arial" pitchFamily="34" charset="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Best fit: agent to explore, curated SQL for reports of record.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97764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3977640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Takeaway: the agent lowers the barrier to data; governance + a golden-query suite keep it trustworthy.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3774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11. Technical Challenges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321040" cy="1143000"/>
          </a:xfrm>
          <a:prstGeom prst="roundRect">
            <a:avLst>
              <a:gd name="adj" fmla="val 4800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3385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Supabase connectivity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0876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direct db.* host is IPv6-only and would not resolve on the network — connections failed at DNS. Fixed by switching to the IPv4 session pooler (eu-central-1).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321040" cy="1143000"/>
          </a:xfrm>
          <a:prstGeom prst="roundRect">
            <a:avLst>
              <a:gd name="adj" fmla="val 4800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41401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Password URI encoding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DB password contained reserved characters (! @ #) that broke the SQLAlchemy connection string until they were percent-encoded.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566160"/>
            <a:ext cx="8321040" cy="1143000"/>
          </a:xfrm>
          <a:prstGeom prst="roundRect">
            <a:avLst>
              <a:gd name="adj" fmla="val 4800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6941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Tooling migration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6908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Google's Gemini CLI was superseded by the Antigravity CLI (agy) mid-project; the MCP configuration format carried over, keeping the project on track.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3774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12. Conclusion &amp; Future Work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Conclusion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41148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2000"/>
              </a:lnSpc>
              <a:spcAft>
                <a:spcPts val="600"/>
              </a:spcAft>
              <a:buSzPct val="150000"/>
              <a:buFont typeface="Arial" pitchFamily="34" charset="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Built a Superstore star-schema warehouse in Supabase.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600"/>
              </a:spcAft>
              <a:buSzPct val="150000"/>
              <a:buFont typeface="Arial" pitchFamily="34" charset="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Integrated a Gemini agent via MCP for natural-language SQL.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600"/>
              </a:spcAft>
              <a:buSzPct val="150000"/>
              <a:buFont typeface="Arial" pitchFamily="34" charset="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Delivered three dashboards and an 8/8 golden-query suite.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600"/>
              </a:spcAft>
              <a:buSzPct val="150000"/>
              <a:buFont typeface="Arial" pitchFamily="34" charset="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Surfaced three non-obvious business insights.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709160" y="9601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Future work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709160" y="1325880"/>
            <a:ext cx="40233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2000"/>
              </a:lnSpc>
              <a:spcAft>
                <a:spcPts val="600"/>
              </a:spcAft>
              <a:buSzPct val="150000"/>
              <a:buFont typeface="Arial" pitchFamily="34" charset="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Expand the golden-query suite; automate regression runs.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600"/>
              </a:spcAft>
              <a:buSzPct val="150000"/>
              <a:buFont typeface="Arial" pitchFamily="34" charset="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Add row-level security for multi-user access.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600"/>
              </a:spcAft>
              <a:buSzPct val="150000"/>
              <a:buFont typeface="Arial" pitchFamily="34" charset="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Cache frequent questions; add anomaly-alerting views.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600"/>
              </a:spcAft>
              <a:buSzPct val="150000"/>
              <a:buFont typeface="Arial" pitchFamily="34" charset="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Enrich with external data (returns, marketing spend).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00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Thank You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606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118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Dario Karadzin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501 Business Intelligence  ·  Student ID 22003553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2026-09-06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2026-09-06T19:42:28Z</dcterms:created>
  <dcterms:modified xsi:type="dcterms:W3CDTF">2026-09-06T19:42:28Z</dcterms:modified>
</cp:coreProperties>
</file>